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29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n 6" descr=""/>
          <p:cNvPicPr/>
          <p:nvPr/>
        </p:nvPicPr>
        <p:blipFill>
          <a:blip r:embed="rId2"/>
          <a:stretch/>
        </p:blipFill>
        <p:spPr>
          <a:xfrm>
            <a:off x="6444360" y="4798440"/>
            <a:ext cx="1233360" cy="320400"/>
          </a:xfrm>
          <a:prstGeom prst="rect">
            <a:avLst/>
          </a:prstGeom>
          <a:ln w="0">
            <a:noFill/>
          </a:ln>
        </p:spPr>
      </p:pic>
      <p:sp>
        <p:nvSpPr>
          <p:cNvPr id="1" name="6 CuadroTexto"/>
          <p:cNvSpPr/>
          <p:nvPr/>
        </p:nvSpPr>
        <p:spPr>
          <a:xfrm>
            <a:off x="1027080" y="4959000"/>
            <a:ext cx="452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Confidential - Do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not duplicate or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distribute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without written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permission from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Advanced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Center for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Aerospace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Technologies </a:t>
            </a: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(CATEC)</a:t>
            </a:r>
            <a:endParaRPr b="0" lang="es-ES" sz="600" spc="-1" strike="noStrike">
              <a:latin typeface="Arial"/>
            </a:endParaRPr>
          </a:p>
        </p:txBody>
      </p:sp>
      <p:sp>
        <p:nvSpPr>
          <p:cNvPr id="2" name="7 CuadroTexto"/>
          <p:cNvSpPr/>
          <p:nvPr/>
        </p:nvSpPr>
        <p:spPr>
          <a:xfrm>
            <a:off x="-180360" y="4949280"/>
            <a:ext cx="1214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fld id="{828DC008-9202-446E-B9B3-E8C22FF6B213}" type="slidenum">
              <a:rPr b="0" lang="es-ES" sz="700" spc="-1" strike="noStrike">
                <a:solidFill>
                  <a:srgbClr val="808080"/>
                </a:solidFill>
                <a:latin typeface="Calibri"/>
              </a:rPr>
              <a:t>&lt;número&gt;</a:t>
            </a:fld>
            <a:r>
              <a:rPr b="0" lang="es-ES" sz="700" spc="-1" strike="noStrike">
                <a:solidFill>
                  <a:srgbClr val="808080"/>
                </a:solidFill>
                <a:latin typeface="Calibri"/>
              </a:rPr>
              <a:t>, dd/mm/yyyy</a:t>
            </a:r>
            <a:endParaRPr b="0" lang="es-ES" sz="700" spc="-1" strike="noStrike">
              <a:latin typeface="Arial"/>
            </a:endParaRPr>
          </a:p>
        </p:txBody>
      </p:sp>
      <p:sp>
        <p:nvSpPr>
          <p:cNvPr id="3" name="6 CuadroTexto"/>
          <p:cNvSpPr/>
          <p:nvPr/>
        </p:nvSpPr>
        <p:spPr>
          <a:xfrm>
            <a:off x="5004000" y="4949280"/>
            <a:ext cx="1539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rgbClr val="808080"/>
                </a:solidFill>
                <a:latin typeface="Calibri"/>
              </a:rPr>
              <a:t>jmmarredo@catec.aero</a:t>
            </a:r>
            <a:endParaRPr b="0" lang="es-ES" sz="700" spc="-1" strike="noStrike">
              <a:latin typeface="Arial"/>
            </a:endParaRPr>
          </a:p>
        </p:txBody>
      </p:sp>
      <p:pic>
        <p:nvPicPr>
          <p:cNvPr id="4" name="Imagen 1" descr=""/>
          <p:cNvPicPr/>
          <p:nvPr/>
        </p:nvPicPr>
        <p:blipFill>
          <a:blip r:embed="rId3"/>
          <a:stretch/>
        </p:blipFill>
        <p:spPr>
          <a:xfrm>
            <a:off x="7812360" y="4783320"/>
            <a:ext cx="1280520" cy="357120"/>
          </a:xfrm>
          <a:prstGeom prst="rect">
            <a:avLst/>
          </a:prstGeom>
          <a:ln w="0">
            <a:noFill/>
          </a:ln>
        </p:spPr>
      </p:pic>
      <p:pic>
        <p:nvPicPr>
          <p:cNvPr id="5" name="Imagen 3" descr=""/>
          <p:cNvPicPr/>
          <p:nvPr/>
        </p:nvPicPr>
        <p:blipFill>
          <a:blip r:embed="rId4"/>
          <a:srcRect l="0" t="0" r="0" b="72948"/>
          <a:stretch/>
        </p:blipFill>
        <p:spPr>
          <a:xfrm>
            <a:off x="0" y="3752640"/>
            <a:ext cx="9143640" cy="1390320"/>
          </a:xfrm>
          <a:prstGeom prst="rect">
            <a:avLst/>
          </a:prstGeom>
          <a:ln w="0">
            <a:noFill/>
          </a:ln>
        </p:spPr>
      </p:pic>
      <p:pic>
        <p:nvPicPr>
          <p:cNvPr id="6" name="Picture 2" descr="White clouds and blue sky during daytime photo – Free Blue Image on Unsplash"/>
          <p:cNvPicPr/>
          <p:nvPr/>
        </p:nvPicPr>
        <p:blipFill>
          <a:blip r:embed="rId5"/>
          <a:srcRect l="0" t="10962" r="0" b="27975"/>
          <a:stretch/>
        </p:blipFill>
        <p:spPr>
          <a:xfrm>
            <a:off x="0" y="0"/>
            <a:ext cx="9143640" cy="3723480"/>
          </a:xfrm>
          <a:prstGeom prst="rect">
            <a:avLst/>
          </a:prstGeom>
          <a:ln w="0">
            <a:noFill/>
          </a:ln>
        </p:spPr>
      </p:pic>
      <p:sp>
        <p:nvSpPr>
          <p:cNvPr id="7" name="CuadroTexto 6"/>
          <p:cNvSpPr/>
          <p:nvPr/>
        </p:nvSpPr>
        <p:spPr>
          <a:xfrm>
            <a:off x="179640" y="4011840"/>
            <a:ext cx="466164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CATEC Advanced Center for Aerospace Technologies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Juan Manuel Marredo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dd.mm.yyyy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jmmarredo@catec.aero</a:t>
            </a: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640" y="2645640"/>
            <a:ext cx="8640720" cy="66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GB" sz="2000" spc="-1" strike="noStrike">
                <a:solidFill>
                  <a:srgbClr val="00365f"/>
                </a:solidFill>
                <a:latin typeface="Arial"/>
              </a:rPr>
              <a:t>Tittle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" name="Imagen 2" descr=""/>
          <p:cNvPicPr/>
          <p:nvPr/>
        </p:nvPicPr>
        <p:blipFill>
          <a:blip r:embed="rId6"/>
          <a:stretch/>
        </p:blipFill>
        <p:spPr>
          <a:xfrm>
            <a:off x="5148000" y="259920"/>
            <a:ext cx="1763640" cy="502200"/>
          </a:xfrm>
          <a:prstGeom prst="rect">
            <a:avLst/>
          </a:prstGeom>
          <a:ln w="0">
            <a:noFill/>
          </a:ln>
        </p:spPr>
      </p:pic>
      <p:pic>
        <p:nvPicPr>
          <p:cNvPr id="10" name="Imagen 5" descr=""/>
          <p:cNvPicPr/>
          <p:nvPr/>
        </p:nvPicPr>
        <p:blipFill>
          <a:blip r:embed="rId7"/>
          <a:stretch/>
        </p:blipFill>
        <p:spPr>
          <a:xfrm>
            <a:off x="7164360" y="271800"/>
            <a:ext cx="1656000" cy="4752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n 6" descr=""/>
          <p:cNvPicPr/>
          <p:nvPr/>
        </p:nvPicPr>
        <p:blipFill>
          <a:blip r:embed="rId2"/>
          <a:stretch/>
        </p:blipFill>
        <p:spPr>
          <a:xfrm>
            <a:off x="6444360" y="4798440"/>
            <a:ext cx="1233360" cy="320400"/>
          </a:xfrm>
          <a:prstGeom prst="rect">
            <a:avLst/>
          </a:prstGeom>
          <a:ln w="0">
            <a:noFill/>
          </a:ln>
        </p:spPr>
      </p:pic>
      <p:sp>
        <p:nvSpPr>
          <p:cNvPr id="49" name="6 CuadroTexto"/>
          <p:cNvSpPr/>
          <p:nvPr/>
        </p:nvSpPr>
        <p:spPr>
          <a:xfrm>
            <a:off x="1027080" y="4959000"/>
            <a:ext cx="452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Confidential - Do not duplicate or distribute without written permission from Advanced Center for Aerospace Technologies (CATEC)</a:t>
            </a:r>
            <a:endParaRPr b="0" lang="es-ES" sz="600" spc="-1" strike="noStrike">
              <a:latin typeface="Arial"/>
            </a:endParaRPr>
          </a:p>
        </p:txBody>
      </p:sp>
      <p:sp>
        <p:nvSpPr>
          <p:cNvPr id="50" name="7 CuadroTexto"/>
          <p:cNvSpPr/>
          <p:nvPr/>
        </p:nvSpPr>
        <p:spPr>
          <a:xfrm>
            <a:off x="-180360" y="4949280"/>
            <a:ext cx="1214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fld id="{4EAAC289-B123-4693-A0A6-23962A18FA0C}" type="slidenum">
              <a:rPr b="0" lang="es-ES" sz="700" spc="-1" strike="noStrike">
                <a:solidFill>
                  <a:srgbClr val="808080"/>
                </a:solidFill>
                <a:latin typeface="Calibri"/>
              </a:rPr>
              <a:t>&lt;número&gt;</a:t>
            </a:fld>
            <a:r>
              <a:rPr b="0" lang="es-ES" sz="700" spc="-1" strike="noStrike">
                <a:solidFill>
                  <a:srgbClr val="808080"/>
                </a:solidFill>
                <a:latin typeface="Calibri"/>
              </a:rPr>
              <a:t>, dd/mm/yyyy</a:t>
            </a:r>
            <a:endParaRPr b="0" lang="es-ES" sz="700" spc="-1" strike="noStrike">
              <a:latin typeface="Arial"/>
            </a:endParaRPr>
          </a:p>
        </p:txBody>
      </p:sp>
      <p:sp>
        <p:nvSpPr>
          <p:cNvPr id="51" name="6 CuadroTexto"/>
          <p:cNvSpPr/>
          <p:nvPr/>
        </p:nvSpPr>
        <p:spPr>
          <a:xfrm>
            <a:off x="5004000" y="4949280"/>
            <a:ext cx="1539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rgbClr val="808080"/>
                </a:solidFill>
                <a:latin typeface="Calibri"/>
              </a:rPr>
              <a:t>jmmarredo@catec.aero</a:t>
            </a:r>
            <a:endParaRPr b="0" lang="es-ES" sz="700" spc="-1" strike="noStrike">
              <a:latin typeface="Arial"/>
            </a:endParaRPr>
          </a:p>
        </p:txBody>
      </p:sp>
      <p:pic>
        <p:nvPicPr>
          <p:cNvPr id="52" name="Imagen 1" descr=""/>
          <p:cNvPicPr/>
          <p:nvPr/>
        </p:nvPicPr>
        <p:blipFill>
          <a:blip r:embed="rId3"/>
          <a:stretch/>
        </p:blipFill>
        <p:spPr>
          <a:xfrm>
            <a:off x="7812360" y="4783320"/>
            <a:ext cx="1280520" cy="35712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123480"/>
            <a:ext cx="9143640" cy="66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00365f"/>
                </a:solidFill>
                <a:latin typeface="Arial"/>
              </a:rPr>
              <a:t>Título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n 6" descr=""/>
          <p:cNvPicPr/>
          <p:nvPr/>
        </p:nvPicPr>
        <p:blipFill>
          <a:blip r:embed="rId2"/>
          <a:stretch/>
        </p:blipFill>
        <p:spPr>
          <a:xfrm>
            <a:off x="6444360" y="4798440"/>
            <a:ext cx="1233360" cy="320400"/>
          </a:xfrm>
          <a:prstGeom prst="rect">
            <a:avLst/>
          </a:prstGeom>
          <a:ln w="0">
            <a:noFill/>
          </a:ln>
        </p:spPr>
      </p:pic>
      <p:sp>
        <p:nvSpPr>
          <p:cNvPr id="92" name="6 CuadroTexto"/>
          <p:cNvSpPr/>
          <p:nvPr/>
        </p:nvSpPr>
        <p:spPr>
          <a:xfrm>
            <a:off x="1027080" y="4959000"/>
            <a:ext cx="452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Confidential - Do not duplicate or distribute without written permission from Advanced Center for Aerospace Technologies (CATEC)</a:t>
            </a:r>
            <a:endParaRPr b="0" lang="es-ES" sz="600" spc="-1" strike="noStrike">
              <a:latin typeface="Arial"/>
            </a:endParaRPr>
          </a:p>
        </p:txBody>
      </p:sp>
      <p:sp>
        <p:nvSpPr>
          <p:cNvPr id="93" name="7 CuadroTexto"/>
          <p:cNvSpPr/>
          <p:nvPr/>
        </p:nvSpPr>
        <p:spPr>
          <a:xfrm>
            <a:off x="-180360" y="4949280"/>
            <a:ext cx="1214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fld id="{2DA35E53-59C5-464B-A52D-A70805538E1C}" type="slidenum">
              <a:rPr b="0" lang="es-ES" sz="700" spc="-1" strike="noStrike">
                <a:solidFill>
                  <a:srgbClr val="808080"/>
                </a:solidFill>
                <a:latin typeface="Calibri"/>
              </a:rPr>
              <a:t>&lt;número&gt;</a:t>
            </a:fld>
            <a:r>
              <a:rPr b="0" lang="es-ES" sz="700" spc="-1" strike="noStrike">
                <a:solidFill>
                  <a:srgbClr val="808080"/>
                </a:solidFill>
                <a:latin typeface="Calibri"/>
              </a:rPr>
              <a:t>, dd/mm/yyyy</a:t>
            </a:r>
            <a:endParaRPr b="0" lang="es-ES" sz="700" spc="-1" strike="noStrike">
              <a:latin typeface="Arial"/>
            </a:endParaRPr>
          </a:p>
        </p:txBody>
      </p:sp>
      <p:sp>
        <p:nvSpPr>
          <p:cNvPr id="94" name="6 CuadroTexto"/>
          <p:cNvSpPr/>
          <p:nvPr/>
        </p:nvSpPr>
        <p:spPr>
          <a:xfrm>
            <a:off x="5004000" y="4949280"/>
            <a:ext cx="1539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rgbClr val="808080"/>
                </a:solidFill>
                <a:latin typeface="Calibri"/>
              </a:rPr>
              <a:t>jmmarredo@catec.aero</a:t>
            </a:r>
            <a:endParaRPr b="0" lang="es-ES" sz="700" spc="-1" strike="noStrike">
              <a:latin typeface="Arial"/>
            </a:endParaRPr>
          </a:p>
        </p:txBody>
      </p:sp>
      <p:pic>
        <p:nvPicPr>
          <p:cNvPr id="95" name="Imagen 1" descr=""/>
          <p:cNvPicPr/>
          <p:nvPr/>
        </p:nvPicPr>
        <p:blipFill>
          <a:blip r:embed="rId3"/>
          <a:stretch/>
        </p:blipFill>
        <p:spPr>
          <a:xfrm>
            <a:off x="7812360" y="4783320"/>
            <a:ext cx="1280520" cy="357120"/>
          </a:xfrm>
          <a:prstGeom prst="rect">
            <a:avLst/>
          </a:prstGeom>
          <a:ln w="0">
            <a:noFill/>
          </a:ln>
        </p:spPr>
      </p:pic>
      <p:sp>
        <p:nvSpPr>
          <p:cNvPr id="96" name="9 Elipse"/>
          <p:cNvSpPr/>
          <p:nvPr/>
        </p:nvSpPr>
        <p:spPr>
          <a:xfrm>
            <a:off x="6804360" y="44640"/>
            <a:ext cx="2232000" cy="2016000"/>
          </a:xfrm>
          <a:prstGeom prst="ellipse">
            <a:avLst/>
          </a:prstGeom>
          <a:solidFill>
            <a:srgbClr val="ffffff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5120"/>
          </a:xfrm>
          <a:prstGeom prst="rect">
            <a:avLst/>
          </a:prstGeom>
          <a:solidFill>
            <a:srgbClr val="00365f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Título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Imagen 6" descr=""/>
          <p:cNvPicPr/>
          <p:nvPr/>
        </p:nvPicPr>
        <p:blipFill>
          <a:blip r:embed="rId2"/>
          <a:stretch/>
        </p:blipFill>
        <p:spPr>
          <a:xfrm>
            <a:off x="6444360" y="4798440"/>
            <a:ext cx="1233360" cy="320400"/>
          </a:xfrm>
          <a:prstGeom prst="rect">
            <a:avLst/>
          </a:prstGeom>
          <a:ln w="0">
            <a:noFill/>
          </a:ln>
        </p:spPr>
      </p:pic>
      <p:sp>
        <p:nvSpPr>
          <p:cNvPr id="136" name="6 CuadroTexto"/>
          <p:cNvSpPr/>
          <p:nvPr/>
        </p:nvSpPr>
        <p:spPr>
          <a:xfrm>
            <a:off x="1027080" y="4959000"/>
            <a:ext cx="452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Confidential - Do not duplicate or distribute without written permission from Advanced Center for Aerospace Technologies (CATEC)</a:t>
            </a:r>
            <a:endParaRPr b="0" lang="es-ES" sz="600" spc="-1" strike="noStrike">
              <a:latin typeface="Arial"/>
            </a:endParaRPr>
          </a:p>
        </p:txBody>
      </p:sp>
      <p:sp>
        <p:nvSpPr>
          <p:cNvPr id="137" name="7 CuadroTexto"/>
          <p:cNvSpPr/>
          <p:nvPr/>
        </p:nvSpPr>
        <p:spPr>
          <a:xfrm>
            <a:off x="-180360" y="4949280"/>
            <a:ext cx="1214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fld id="{FC9780D8-56E7-47AF-83F4-4AC7A327C656}" type="slidenum">
              <a:rPr b="0" lang="es-ES" sz="700" spc="-1" strike="noStrike">
                <a:solidFill>
                  <a:srgbClr val="808080"/>
                </a:solidFill>
                <a:latin typeface="Calibri"/>
              </a:rPr>
              <a:t>&lt;número&gt;</a:t>
            </a:fld>
            <a:r>
              <a:rPr b="0" lang="es-ES" sz="700" spc="-1" strike="noStrike">
                <a:solidFill>
                  <a:srgbClr val="808080"/>
                </a:solidFill>
                <a:latin typeface="Calibri"/>
              </a:rPr>
              <a:t>, dd/mm/yyyy</a:t>
            </a:r>
            <a:endParaRPr b="0" lang="es-ES" sz="700" spc="-1" strike="noStrike">
              <a:latin typeface="Arial"/>
            </a:endParaRPr>
          </a:p>
        </p:txBody>
      </p:sp>
      <p:sp>
        <p:nvSpPr>
          <p:cNvPr id="138" name="6 CuadroTexto"/>
          <p:cNvSpPr/>
          <p:nvPr/>
        </p:nvSpPr>
        <p:spPr>
          <a:xfrm>
            <a:off x="5004000" y="4949280"/>
            <a:ext cx="1539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rgbClr val="808080"/>
                </a:solidFill>
                <a:latin typeface="Calibri"/>
              </a:rPr>
              <a:t>jmmarredo@catec.aero</a:t>
            </a:r>
            <a:endParaRPr b="0" lang="es-ES" sz="700" spc="-1" strike="noStrike">
              <a:latin typeface="Arial"/>
            </a:endParaRPr>
          </a:p>
        </p:txBody>
      </p:sp>
      <p:pic>
        <p:nvPicPr>
          <p:cNvPr id="139" name="Imagen 1" descr=""/>
          <p:cNvPicPr/>
          <p:nvPr/>
        </p:nvPicPr>
        <p:blipFill>
          <a:blip r:embed="rId3"/>
          <a:stretch/>
        </p:blipFill>
        <p:spPr>
          <a:xfrm>
            <a:off x="7812360" y="4783320"/>
            <a:ext cx="1280520" cy="357120"/>
          </a:xfrm>
          <a:prstGeom prst="rect">
            <a:avLst/>
          </a:prstGeom>
          <a:ln w="0">
            <a:noFill/>
          </a:ln>
        </p:spPr>
      </p:pic>
      <p:pic>
        <p:nvPicPr>
          <p:cNvPr id="140" name="Imagen 7" descr=""/>
          <p:cNvPicPr/>
          <p:nvPr/>
        </p:nvPicPr>
        <p:blipFill>
          <a:blip r:embed="rId4"/>
          <a:stretch/>
        </p:blipFill>
        <p:spPr>
          <a:xfrm>
            <a:off x="144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41" name="CuadroTexto 5"/>
          <p:cNvSpPr/>
          <p:nvPr/>
        </p:nvSpPr>
        <p:spPr>
          <a:xfrm>
            <a:off x="395640" y="3363840"/>
            <a:ext cx="540036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 cap="all">
                <a:solidFill>
                  <a:srgbClr val="ffffff"/>
                </a:solidFill>
                <a:latin typeface="Calibri"/>
              </a:rPr>
              <a:t>Catec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Advanced Center for Aerospace Technologies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s-ES" sz="1100" spc="-1" strike="noStrike">
                <a:solidFill>
                  <a:srgbClr val="ffffff"/>
                </a:solidFill>
                <a:latin typeface="Calibri"/>
              </a:rPr>
              <a:t>Parque Tecnológico y Aeronáutico de Andalucía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C/ Wilbur y Orville Wright 19 - 41309 La Rinconada, Sevilla 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Phone: +34 954 179 002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www.catec.aero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www.atlascenter.aero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42" name="CuadroTexto 2"/>
          <p:cNvSpPr/>
          <p:nvPr/>
        </p:nvSpPr>
        <p:spPr>
          <a:xfrm>
            <a:off x="395640" y="943200"/>
            <a:ext cx="466128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3600" spc="-1" strike="noStrike">
                <a:solidFill>
                  <a:srgbClr val="ffffff"/>
                </a:solidFill>
                <a:latin typeface="Calibri"/>
              </a:rPr>
              <a:t>Contact</a:t>
            </a:r>
            <a:endParaRPr b="0" lang="es-E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ffffff"/>
                </a:solidFill>
                <a:latin typeface="Calibri"/>
              </a:rPr>
              <a:t>Juan Manuel Marredo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ffffff"/>
                </a:solidFill>
                <a:latin typeface="Calibri"/>
              </a:rPr>
              <a:t>Technical Leader – Autonomous Systems Unit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ffffff"/>
                </a:solidFill>
                <a:latin typeface="Calibri"/>
              </a:rPr>
              <a:t>jmmarredo@catec.aero 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143" name="Imagen 1" descr=""/>
          <p:cNvPicPr/>
          <p:nvPr/>
        </p:nvPicPr>
        <p:blipFill>
          <a:blip r:embed="rId5"/>
          <a:stretch/>
        </p:blipFill>
        <p:spPr>
          <a:xfrm>
            <a:off x="5436000" y="250920"/>
            <a:ext cx="1763640" cy="502200"/>
          </a:xfrm>
          <a:prstGeom prst="rect">
            <a:avLst/>
          </a:prstGeom>
          <a:ln w="0">
            <a:noFill/>
          </a:ln>
        </p:spPr>
      </p:pic>
      <p:pic>
        <p:nvPicPr>
          <p:cNvPr id="144" name="Imagen 3" descr=""/>
          <p:cNvPicPr/>
          <p:nvPr/>
        </p:nvPicPr>
        <p:blipFill>
          <a:blip r:embed="rId6"/>
          <a:stretch/>
        </p:blipFill>
        <p:spPr>
          <a:xfrm>
            <a:off x="5490000" y="767160"/>
            <a:ext cx="1656000" cy="475200"/>
          </a:xfrm>
          <a:prstGeom prst="rect">
            <a:avLst/>
          </a:prstGeom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6" descr=""/>
          <p:cNvPicPr/>
          <p:nvPr/>
        </p:nvPicPr>
        <p:blipFill>
          <a:blip r:embed="rId2"/>
          <a:stretch/>
        </p:blipFill>
        <p:spPr>
          <a:xfrm>
            <a:off x="6444360" y="4798440"/>
            <a:ext cx="1233360" cy="320400"/>
          </a:xfrm>
          <a:prstGeom prst="rect">
            <a:avLst/>
          </a:prstGeom>
          <a:ln w="0">
            <a:noFill/>
          </a:ln>
        </p:spPr>
      </p:pic>
      <p:sp>
        <p:nvSpPr>
          <p:cNvPr id="184" name="6 CuadroTexto"/>
          <p:cNvSpPr/>
          <p:nvPr/>
        </p:nvSpPr>
        <p:spPr>
          <a:xfrm>
            <a:off x="1027080" y="4959000"/>
            <a:ext cx="452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Confidential - Do not duplicate or distribute without written permission from Advanced Center for Aerospace Technologies (CATEC)</a:t>
            </a:r>
            <a:endParaRPr b="0" lang="es-ES" sz="600" spc="-1" strike="noStrike">
              <a:latin typeface="Arial"/>
            </a:endParaRPr>
          </a:p>
        </p:txBody>
      </p:sp>
      <p:sp>
        <p:nvSpPr>
          <p:cNvPr id="185" name="7 CuadroTexto"/>
          <p:cNvSpPr/>
          <p:nvPr/>
        </p:nvSpPr>
        <p:spPr>
          <a:xfrm>
            <a:off x="-180360" y="4949280"/>
            <a:ext cx="1214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fld id="{5C696ABB-A3F1-4BBA-9804-C76AAAB8F171}" type="slidenum">
              <a:rPr b="0" lang="es-ES" sz="700" spc="-1" strike="noStrike">
                <a:solidFill>
                  <a:srgbClr val="808080"/>
                </a:solidFill>
                <a:latin typeface="Calibri"/>
              </a:rPr>
              <a:t>&lt;número&gt;</a:t>
            </a:fld>
            <a:r>
              <a:rPr b="0" lang="es-ES" sz="700" spc="-1" strike="noStrike">
                <a:solidFill>
                  <a:srgbClr val="808080"/>
                </a:solidFill>
                <a:latin typeface="Calibri"/>
              </a:rPr>
              <a:t>, dd/mm/yyyy</a:t>
            </a:r>
            <a:endParaRPr b="0" lang="es-ES" sz="700" spc="-1" strike="noStrike">
              <a:latin typeface="Arial"/>
            </a:endParaRPr>
          </a:p>
        </p:txBody>
      </p:sp>
      <p:sp>
        <p:nvSpPr>
          <p:cNvPr id="186" name="6 CuadroTexto"/>
          <p:cNvSpPr/>
          <p:nvPr/>
        </p:nvSpPr>
        <p:spPr>
          <a:xfrm>
            <a:off x="5004000" y="4949280"/>
            <a:ext cx="1539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rgbClr val="808080"/>
                </a:solidFill>
                <a:latin typeface="Calibri"/>
              </a:rPr>
              <a:t>jmmarredo@catec.aero</a:t>
            </a:r>
            <a:endParaRPr b="0" lang="es-ES" sz="700" spc="-1" strike="noStrike">
              <a:latin typeface="Arial"/>
            </a:endParaRPr>
          </a:p>
        </p:txBody>
      </p:sp>
      <p:pic>
        <p:nvPicPr>
          <p:cNvPr id="187" name="Imagen 1" descr=""/>
          <p:cNvPicPr/>
          <p:nvPr/>
        </p:nvPicPr>
        <p:blipFill>
          <a:blip r:embed="rId3"/>
          <a:stretch/>
        </p:blipFill>
        <p:spPr>
          <a:xfrm>
            <a:off x="7812360" y="4783320"/>
            <a:ext cx="1280520" cy="357120"/>
          </a:xfrm>
          <a:prstGeom prst="rect">
            <a:avLst/>
          </a:prstGeom>
          <a:ln w="0">
            <a:noFill/>
          </a:ln>
        </p:spPr>
      </p:pic>
      <p:pic>
        <p:nvPicPr>
          <p:cNvPr id="188" name="Imagen 7" descr=""/>
          <p:cNvPicPr/>
          <p:nvPr/>
        </p:nvPicPr>
        <p:blipFill>
          <a:blip r:embed="rId4"/>
          <a:stretch/>
        </p:blipFill>
        <p:spPr>
          <a:xfrm>
            <a:off x="144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9" name="CuadroTexto 5"/>
          <p:cNvSpPr/>
          <p:nvPr/>
        </p:nvSpPr>
        <p:spPr>
          <a:xfrm>
            <a:off x="395640" y="3363840"/>
            <a:ext cx="540036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 cap="all">
                <a:solidFill>
                  <a:srgbClr val="ffffff"/>
                </a:solidFill>
                <a:latin typeface="Calibri"/>
              </a:rPr>
              <a:t>Catec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Centro Avanzado de Tecnologías Aeroespaciales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s-ES" sz="1100" spc="-1" strike="noStrike">
                <a:solidFill>
                  <a:srgbClr val="ffffff"/>
                </a:solidFill>
                <a:latin typeface="Calibri"/>
              </a:rPr>
              <a:t>Parque Tecnológico y Aeronáutico de Andalucía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C/ Wilbur y Orville Wright 19 - 41309 La Rinconada, Sevilla 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Phone: +34 954 179 002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www.catec.aero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www.atlascenter.aero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90" name="CuadroTexto 2"/>
          <p:cNvSpPr/>
          <p:nvPr/>
        </p:nvSpPr>
        <p:spPr>
          <a:xfrm>
            <a:off x="395640" y="943200"/>
            <a:ext cx="466128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3600" spc="-1" strike="noStrike">
                <a:solidFill>
                  <a:srgbClr val="ffffff"/>
                </a:solidFill>
                <a:latin typeface="Calibri"/>
              </a:rPr>
              <a:t>Contacto</a:t>
            </a:r>
            <a:endParaRPr b="0" lang="es-E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ffffff"/>
                </a:solidFill>
                <a:latin typeface="Calibri"/>
              </a:rPr>
              <a:t>Juan Manuel Marredo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Líder Técnico – Unidad de Sistemas Autónomos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ffffff"/>
                </a:solidFill>
                <a:latin typeface="Calibri"/>
              </a:rPr>
              <a:t>jmmarredo@catec.aero </a:t>
            </a:r>
            <a:endParaRPr b="0" lang="es-ES" sz="1800" spc="-1" strike="noStrike">
              <a:latin typeface="Arial"/>
            </a:endParaRPr>
          </a:p>
        </p:txBody>
      </p:sp>
      <p:pic>
        <p:nvPicPr>
          <p:cNvPr id="191" name="Imagen 1" descr=""/>
          <p:cNvPicPr/>
          <p:nvPr/>
        </p:nvPicPr>
        <p:blipFill>
          <a:blip r:embed="rId5"/>
          <a:stretch/>
        </p:blipFill>
        <p:spPr>
          <a:xfrm>
            <a:off x="5436000" y="250920"/>
            <a:ext cx="1763640" cy="502200"/>
          </a:xfrm>
          <a:prstGeom prst="rect">
            <a:avLst/>
          </a:prstGeom>
          <a:ln w="0">
            <a:noFill/>
          </a:ln>
        </p:spPr>
      </p:pic>
      <p:pic>
        <p:nvPicPr>
          <p:cNvPr id="192" name="Imagen 3" descr=""/>
          <p:cNvPicPr/>
          <p:nvPr/>
        </p:nvPicPr>
        <p:blipFill>
          <a:blip r:embed="rId6"/>
          <a:stretch/>
        </p:blipFill>
        <p:spPr>
          <a:xfrm>
            <a:off x="5490000" y="767160"/>
            <a:ext cx="1656000" cy="47520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Imagen 6" descr=""/>
          <p:cNvPicPr/>
          <p:nvPr/>
        </p:nvPicPr>
        <p:blipFill>
          <a:blip r:embed="rId2"/>
          <a:stretch/>
        </p:blipFill>
        <p:spPr>
          <a:xfrm>
            <a:off x="6444360" y="4798440"/>
            <a:ext cx="1233360" cy="320400"/>
          </a:xfrm>
          <a:prstGeom prst="rect">
            <a:avLst/>
          </a:prstGeom>
          <a:ln w="0">
            <a:noFill/>
          </a:ln>
        </p:spPr>
      </p:pic>
      <p:sp>
        <p:nvSpPr>
          <p:cNvPr id="232" name="6 CuadroTexto"/>
          <p:cNvSpPr/>
          <p:nvPr/>
        </p:nvSpPr>
        <p:spPr>
          <a:xfrm>
            <a:off x="1027080" y="4959000"/>
            <a:ext cx="452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600" spc="-1" strike="noStrike">
                <a:solidFill>
                  <a:srgbClr val="808080"/>
                </a:solidFill>
                <a:latin typeface="Calibri"/>
              </a:rPr>
              <a:t>Confidential - Do not duplicate or distribute without written permission from Advanced Center for Aerospace Technologies (CATEC)</a:t>
            </a:r>
            <a:endParaRPr b="0" lang="es-ES" sz="600" spc="-1" strike="noStrike">
              <a:latin typeface="Arial"/>
            </a:endParaRPr>
          </a:p>
        </p:txBody>
      </p:sp>
      <p:sp>
        <p:nvSpPr>
          <p:cNvPr id="233" name="7 CuadroTexto"/>
          <p:cNvSpPr/>
          <p:nvPr/>
        </p:nvSpPr>
        <p:spPr>
          <a:xfrm>
            <a:off x="-180360" y="4949280"/>
            <a:ext cx="1214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fld id="{40D69491-7821-4624-A238-8719FCDBE1C2}" type="slidenum">
              <a:rPr b="0" lang="es-ES" sz="700" spc="-1" strike="noStrike">
                <a:solidFill>
                  <a:srgbClr val="808080"/>
                </a:solidFill>
                <a:latin typeface="Calibri"/>
              </a:rPr>
              <a:t>&lt;número&gt;</a:t>
            </a:fld>
            <a:r>
              <a:rPr b="0" lang="es-ES" sz="700" spc="-1" strike="noStrike">
                <a:solidFill>
                  <a:srgbClr val="808080"/>
                </a:solidFill>
                <a:latin typeface="Calibri"/>
              </a:rPr>
              <a:t>, dd/mm/yyyy</a:t>
            </a:r>
            <a:endParaRPr b="0" lang="es-ES" sz="700" spc="-1" strike="noStrike">
              <a:latin typeface="Arial"/>
            </a:endParaRPr>
          </a:p>
        </p:txBody>
      </p:sp>
      <p:sp>
        <p:nvSpPr>
          <p:cNvPr id="234" name="6 CuadroTexto"/>
          <p:cNvSpPr/>
          <p:nvPr/>
        </p:nvSpPr>
        <p:spPr>
          <a:xfrm>
            <a:off x="5004000" y="4949280"/>
            <a:ext cx="1539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rgbClr val="808080"/>
                </a:solidFill>
                <a:latin typeface="Calibri"/>
              </a:rPr>
              <a:t>jmmarredo@catec.aero</a:t>
            </a:r>
            <a:endParaRPr b="0" lang="es-ES" sz="700" spc="-1" strike="noStrike">
              <a:latin typeface="Arial"/>
            </a:endParaRPr>
          </a:p>
        </p:txBody>
      </p:sp>
      <p:pic>
        <p:nvPicPr>
          <p:cNvPr id="235" name="Imagen 1" descr=""/>
          <p:cNvPicPr/>
          <p:nvPr/>
        </p:nvPicPr>
        <p:blipFill>
          <a:blip r:embed="rId3"/>
          <a:stretch/>
        </p:blipFill>
        <p:spPr>
          <a:xfrm>
            <a:off x="7812360" y="4783320"/>
            <a:ext cx="1280520" cy="357120"/>
          </a:xfrm>
          <a:prstGeom prst="rect">
            <a:avLst/>
          </a:prstGeom>
          <a:ln w="0">
            <a:noFill/>
          </a:ln>
        </p:spPr>
      </p:pic>
      <p:pic>
        <p:nvPicPr>
          <p:cNvPr id="236" name="Imagen 3" descr="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37" name="CuadroTexto 20"/>
          <p:cNvSpPr/>
          <p:nvPr/>
        </p:nvSpPr>
        <p:spPr>
          <a:xfrm>
            <a:off x="97920" y="848160"/>
            <a:ext cx="29836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Calibri"/>
              </a:rPr>
              <a:t>Follow us!</a:t>
            </a:r>
            <a:endParaRPr b="0" lang="es-ES" sz="4400" spc="-1" strike="noStrike">
              <a:latin typeface="Arial"/>
            </a:endParaRPr>
          </a:p>
        </p:txBody>
      </p:sp>
      <p:grpSp>
        <p:nvGrpSpPr>
          <p:cNvPr id="238" name="Grupo 21"/>
          <p:cNvGrpSpPr/>
          <p:nvPr/>
        </p:nvGrpSpPr>
        <p:grpSpPr>
          <a:xfrm>
            <a:off x="456840" y="2283840"/>
            <a:ext cx="719640" cy="719640"/>
            <a:chOff x="456840" y="2283840"/>
            <a:chExt cx="719640" cy="719640"/>
          </a:xfrm>
        </p:grpSpPr>
        <p:sp>
          <p:nvSpPr>
            <p:cNvPr id="239" name="Rectángulo 22"/>
            <p:cNvSpPr/>
            <p:nvPr/>
          </p:nvSpPr>
          <p:spPr>
            <a:xfrm>
              <a:off x="456840" y="2283840"/>
              <a:ext cx="719640" cy="7196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40" name="Imagen 23" descr=""/>
            <p:cNvPicPr/>
            <p:nvPr/>
          </p:nvPicPr>
          <p:blipFill>
            <a:blip r:embed="rId5"/>
            <a:srcRect l="0" t="0" r="2150" b="0"/>
            <a:stretch/>
          </p:blipFill>
          <p:spPr>
            <a:xfrm>
              <a:off x="525960" y="2387520"/>
              <a:ext cx="581400" cy="570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41" name="Grupo 24"/>
          <p:cNvGrpSpPr/>
          <p:nvPr/>
        </p:nvGrpSpPr>
        <p:grpSpPr>
          <a:xfrm>
            <a:off x="1398240" y="2283840"/>
            <a:ext cx="719640" cy="719640"/>
            <a:chOff x="1398240" y="2283840"/>
            <a:chExt cx="719640" cy="719640"/>
          </a:xfrm>
        </p:grpSpPr>
        <p:sp>
          <p:nvSpPr>
            <p:cNvPr id="242" name="Rectángulo 25"/>
            <p:cNvSpPr/>
            <p:nvPr/>
          </p:nvSpPr>
          <p:spPr>
            <a:xfrm>
              <a:off x="1398240" y="2283840"/>
              <a:ext cx="719640" cy="7196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43" name="Imagen 26" descr=""/>
            <p:cNvPicPr/>
            <p:nvPr/>
          </p:nvPicPr>
          <p:blipFill>
            <a:blip r:embed="rId6"/>
            <a:stretch/>
          </p:blipFill>
          <p:spPr>
            <a:xfrm>
              <a:off x="1482480" y="2432520"/>
              <a:ext cx="540720" cy="5263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44" name="Grupo 27"/>
          <p:cNvGrpSpPr/>
          <p:nvPr/>
        </p:nvGrpSpPr>
        <p:grpSpPr>
          <a:xfrm>
            <a:off x="2339640" y="2283840"/>
            <a:ext cx="719640" cy="719640"/>
            <a:chOff x="2339640" y="2283840"/>
            <a:chExt cx="719640" cy="719640"/>
          </a:xfrm>
        </p:grpSpPr>
        <p:sp>
          <p:nvSpPr>
            <p:cNvPr id="245" name="Rectángulo 28"/>
            <p:cNvSpPr/>
            <p:nvPr/>
          </p:nvSpPr>
          <p:spPr>
            <a:xfrm>
              <a:off x="2339640" y="2283840"/>
              <a:ext cx="719640" cy="7196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46" name="Imagen 29" descr=""/>
            <p:cNvPicPr/>
            <p:nvPr/>
          </p:nvPicPr>
          <p:blipFill>
            <a:blip r:embed="rId7"/>
            <a:stretch/>
          </p:blipFill>
          <p:spPr>
            <a:xfrm>
              <a:off x="2432880" y="2412720"/>
              <a:ext cx="533520" cy="502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47" name="Grupo 30"/>
          <p:cNvGrpSpPr/>
          <p:nvPr/>
        </p:nvGrpSpPr>
        <p:grpSpPr>
          <a:xfrm>
            <a:off x="3281040" y="2283840"/>
            <a:ext cx="719640" cy="719640"/>
            <a:chOff x="3281040" y="2283840"/>
            <a:chExt cx="719640" cy="719640"/>
          </a:xfrm>
        </p:grpSpPr>
        <p:sp>
          <p:nvSpPr>
            <p:cNvPr id="248" name="Rectángulo 31"/>
            <p:cNvSpPr/>
            <p:nvPr/>
          </p:nvSpPr>
          <p:spPr>
            <a:xfrm>
              <a:off x="3281040" y="2283840"/>
              <a:ext cx="719640" cy="7196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49" name="Imagen 32" descr=""/>
            <p:cNvPicPr/>
            <p:nvPr/>
          </p:nvPicPr>
          <p:blipFill>
            <a:blip r:embed="rId8"/>
            <a:stretch/>
          </p:blipFill>
          <p:spPr>
            <a:xfrm>
              <a:off x="3347280" y="2376000"/>
              <a:ext cx="587160" cy="575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50" name="CuadroTexto 33"/>
          <p:cNvSpPr/>
          <p:nvPr/>
        </p:nvSpPr>
        <p:spPr>
          <a:xfrm>
            <a:off x="20160" y="3234960"/>
            <a:ext cx="3465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</a:rPr>
              <a:t>www.catec.aero</a:t>
            </a:r>
            <a:endParaRPr b="0" lang="es-E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</a:rPr>
              <a:t>www.atlascenter.aero</a:t>
            </a:r>
            <a:endParaRPr b="0" lang="es-ES" sz="2400" spc="-1" strike="noStrike">
              <a:latin typeface="Arial"/>
            </a:endParaRPr>
          </a:p>
        </p:txBody>
      </p:sp>
      <p:pic>
        <p:nvPicPr>
          <p:cNvPr id="251" name="Imagen 1" descr=""/>
          <p:cNvPicPr/>
          <p:nvPr/>
        </p:nvPicPr>
        <p:blipFill>
          <a:blip r:embed="rId9"/>
          <a:stretch/>
        </p:blipFill>
        <p:spPr>
          <a:xfrm>
            <a:off x="5436000" y="250920"/>
            <a:ext cx="1763640" cy="502200"/>
          </a:xfrm>
          <a:prstGeom prst="rect">
            <a:avLst/>
          </a:prstGeom>
          <a:ln w="0">
            <a:noFill/>
          </a:ln>
        </p:spPr>
      </p:pic>
      <p:pic>
        <p:nvPicPr>
          <p:cNvPr id="252" name="Imagen 2" descr=""/>
          <p:cNvPicPr/>
          <p:nvPr/>
        </p:nvPicPr>
        <p:blipFill>
          <a:blip r:embed="rId10"/>
          <a:stretch/>
        </p:blipFill>
        <p:spPr>
          <a:xfrm>
            <a:off x="5490000" y="767160"/>
            <a:ext cx="1656000" cy="475200"/>
          </a:xfrm>
          <a:prstGeom prst="rect">
            <a:avLst/>
          </a:prstGeom>
          <a:ln w="0">
            <a:noFill/>
          </a:ln>
        </p:spPr>
      </p:pic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79640" y="2645640"/>
            <a:ext cx="8640720" cy="66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s-ES" sz="1800" spc="-1" strike="noStrike">
                <a:solidFill>
                  <a:srgbClr val="000000"/>
                </a:solidFill>
                <a:latin typeface="Calibri"/>
              </a:rPr>
              <a:t>FIN BECA </a:t>
            </a:r>
            <a:br>
              <a:rPr sz="1800"/>
            </a:br>
            <a:r>
              <a:rPr b="1" lang="es-ES" sz="1800" spc="-1" strike="noStrike">
                <a:solidFill>
                  <a:srgbClr val="000000"/>
                </a:solidFill>
                <a:latin typeface="Calibri"/>
              </a:rPr>
              <a:t>ALEJANDRO LUIS RABANAL BELTRÁN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5120"/>
          </a:xfrm>
          <a:prstGeom prst="rect">
            <a:avLst/>
          </a:prstGeom>
          <a:solidFill>
            <a:srgbClr val="00365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DRONES FULLY ACTUATED y GAZEBO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rcRect l="5259" t="9541" r="5268" b="14065"/>
          <a:stretch/>
        </p:blipFill>
        <p:spPr>
          <a:xfrm>
            <a:off x="864000" y="1080000"/>
            <a:ext cx="2880000" cy="1355040"/>
          </a:xfrm>
          <a:prstGeom prst="rect">
            <a:avLst/>
          </a:prstGeom>
          <a:ln w="0">
            <a:noFill/>
          </a:ln>
        </p:spPr>
      </p:pic>
      <p:pic>
        <p:nvPicPr>
          <p:cNvPr id="294" name="" descr=""/>
          <p:cNvPicPr/>
          <p:nvPr/>
        </p:nvPicPr>
        <p:blipFill>
          <a:blip r:embed="rId2"/>
          <a:stretch/>
        </p:blipFill>
        <p:spPr>
          <a:xfrm>
            <a:off x="1178280" y="2744640"/>
            <a:ext cx="2349720" cy="1395360"/>
          </a:xfrm>
          <a:prstGeom prst="rect">
            <a:avLst/>
          </a:prstGeom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3"/>
          <a:stretch/>
        </p:blipFill>
        <p:spPr>
          <a:xfrm>
            <a:off x="5946840" y="1728000"/>
            <a:ext cx="893160" cy="1283040"/>
          </a:xfrm>
          <a:prstGeom prst="rect">
            <a:avLst/>
          </a:prstGeom>
          <a:ln w="0">
            <a:noFill/>
          </a:ln>
        </p:spPr>
      </p:pic>
      <p:sp>
        <p:nvSpPr>
          <p:cNvPr id="296" name=""/>
          <p:cNvSpPr txBox="1"/>
          <p:nvPr/>
        </p:nvSpPr>
        <p:spPr>
          <a:xfrm>
            <a:off x="4284000" y="3060000"/>
            <a:ext cx="4363560" cy="207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200" spc="-1" strike="noStrike">
                <a:latin typeface="Arial"/>
              </a:rPr>
              <a:t>SDF (Simulation Description Format):</a:t>
            </a:r>
            <a:r>
              <a:rPr b="0" lang="es-ES" sz="1200" spc="-1" strike="noStrike">
                <a:latin typeface="Arial"/>
              </a:rPr>
              <a:t> Formato estándar de Gazebo utilizado tanto por PX4 como ArduPilot para definir modelos de vehículos, sensores, actuadores y propiedades físicas. </a:t>
            </a:r>
            <a:endParaRPr b="0" lang="es-ES" sz="12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200" spc="-1" strike="noStrike">
                <a:latin typeface="Arial"/>
              </a:rPr>
              <a:t>Jinja Template (.jinja):</a:t>
            </a:r>
            <a:r>
              <a:rPr b="0" lang="es-ES" sz="1200" spc="-1" strike="noStrike">
                <a:latin typeface="Arial"/>
              </a:rPr>
              <a:t> Plantilla utilizada para generar archivos SDF  mediante parámetros configurables. Permite crear variantes de vehículos sin duplicar modelos. </a:t>
            </a:r>
            <a:endParaRPr b="0" lang="es-ES" sz="1200" spc="-1" strike="noStrike"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ES" sz="1000" spc="-1" strike="noStrike"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176000" y="864000"/>
            <a:ext cx="4140000" cy="7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200" spc="-1" strike="noStrike">
                <a:latin typeface="Arial"/>
              </a:rPr>
              <a:t>Dron Fully Actuated (6DoF): </a:t>
            </a:r>
            <a:r>
              <a:rPr b="0" lang="es-ES" sz="1200" spc="-1" strike="noStrike">
                <a:latin typeface="Arial"/>
              </a:rPr>
              <a:t>Vehículo capaz de controlar de forma independiente sus seis grados de libertad (traslación en X, Y, Z y rotación en Roll, Pitch y Yaw).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5120"/>
          </a:xfrm>
          <a:prstGeom prst="rect">
            <a:avLst/>
          </a:prstGeom>
          <a:solidFill>
            <a:srgbClr val="00365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MODIFICACIONES ARDUPILOT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412560" y="555120"/>
            <a:ext cx="1243440" cy="4423320"/>
          </a:xfrm>
          <a:prstGeom prst="rect">
            <a:avLst/>
          </a:prstGeom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tretch/>
        </p:blipFill>
        <p:spPr>
          <a:xfrm>
            <a:off x="5868000" y="642600"/>
            <a:ext cx="2199960" cy="4037400"/>
          </a:xfrm>
          <a:prstGeom prst="rect">
            <a:avLst/>
          </a:prstGeom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3"/>
          <a:stretch/>
        </p:blipFill>
        <p:spPr>
          <a:xfrm>
            <a:off x="2304000" y="555120"/>
            <a:ext cx="3169080" cy="4475160"/>
          </a:xfrm>
          <a:prstGeom prst="rect">
            <a:avLst/>
          </a:prstGeom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4"/>
          <a:srcRect l="0" t="36992" r="0" b="36730"/>
          <a:stretch/>
        </p:blipFill>
        <p:spPr>
          <a:xfrm>
            <a:off x="7547400" y="606600"/>
            <a:ext cx="1668240" cy="437400"/>
          </a:xfrm>
          <a:prstGeom prst="rect">
            <a:avLst/>
          </a:prstGeom>
          <a:ln w="0">
            <a:noFill/>
          </a:ln>
        </p:spPr>
      </p:pic>
      <p:sp>
        <p:nvSpPr>
          <p:cNvPr id="303" name=""/>
          <p:cNvSpPr txBox="1"/>
          <p:nvPr/>
        </p:nvSpPr>
        <p:spPr>
          <a:xfrm>
            <a:off x="1800000" y="3816000"/>
            <a:ext cx="1458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Control normal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464000" y="3737880"/>
            <a:ext cx="13374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Control 6DOF</a:t>
            </a:r>
            <a:endParaRPr b="0" lang="es-ES" sz="1400" spc="-1" strike="noStrike">
              <a:latin typeface="Arial"/>
            </a:endParaRPr>
          </a:p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modificado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560000" y="3722040"/>
            <a:ext cx="13374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Control 6DOF</a:t>
            </a:r>
            <a:endParaRPr b="0" lang="es-ES" sz="1400" spc="-1" strike="noStrike">
              <a:latin typeface="Arial"/>
            </a:endParaRPr>
          </a:p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 </a:t>
            </a:r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comunidad</a:t>
            </a:r>
            <a:endParaRPr b="0" lang="es-E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5120"/>
          </a:xfrm>
          <a:prstGeom prst="rect">
            <a:avLst/>
          </a:prstGeom>
          <a:solidFill>
            <a:srgbClr val="00365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MODIFICACIONES ARDUPILOT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1"/>
          <a:srcRect l="0" t="36992" r="0" b="36730"/>
          <a:stretch/>
        </p:blipFill>
        <p:spPr>
          <a:xfrm>
            <a:off x="7547400" y="606600"/>
            <a:ext cx="1668240" cy="437400"/>
          </a:xfrm>
          <a:prstGeom prst="rect">
            <a:avLst/>
          </a:prstGeom>
          <a:ln w="0">
            <a:noFill/>
          </a:ln>
        </p:spPr>
      </p:pic>
      <p:sp>
        <p:nvSpPr>
          <p:cNvPr id="308" name=""/>
          <p:cNvSpPr txBox="1"/>
          <p:nvPr/>
        </p:nvSpPr>
        <p:spPr>
          <a:xfrm>
            <a:off x="540000" y="1080000"/>
            <a:ext cx="3600000" cy="213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ES" sz="1800" spc="-1" strike="noStrike">
                <a:latin typeface="Arial"/>
              </a:rPr>
              <a:t>Problemas:</a:t>
            </a:r>
            <a:endParaRPr b="0" lang="es-ES" sz="1800" spc="-1" strike="noStrike">
              <a:latin typeface="Arial"/>
            </a:endParaRPr>
          </a:p>
          <a:p>
            <a:endParaRPr b="0" lang="es-ES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Mucha seguridad.</a:t>
            </a:r>
            <a:endParaRPr b="0" lang="es-ES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Ajustes de funciones de control de actitud.</a:t>
            </a:r>
            <a:endParaRPr b="0" lang="es-ES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Modos no compatibles, limitaciones de ángulos.</a:t>
            </a:r>
            <a:endParaRPr b="0" lang="es-ES" sz="18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EKF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5120"/>
          </a:xfrm>
          <a:prstGeom prst="rect">
            <a:avLst/>
          </a:prstGeom>
          <a:solidFill>
            <a:srgbClr val="00365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MODIFICACIONES PX4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326520" y="555120"/>
            <a:ext cx="1905480" cy="4487040"/>
          </a:xfrm>
          <a:prstGeom prst="rect">
            <a:avLst/>
          </a:prstGeom>
          <a:ln w="0">
            <a:noFill/>
          </a:ln>
        </p:spPr>
      </p:pic>
      <p:pic>
        <p:nvPicPr>
          <p:cNvPr id="311" name="" descr=""/>
          <p:cNvPicPr/>
          <p:nvPr/>
        </p:nvPicPr>
        <p:blipFill>
          <a:blip r:embed="rId2"/>
          <a:stretch/>
        </p:blipFill>
        <p:spPr>
          <a:xfrm>
            <a:off x="7956000" y="468000"/>
            <a:ext cx="1158480" cy="868680"/>
          </a:xfrm>
          <a:prstGeom prst="rect">
            <a:avLst/>
          </a:prstGeom>
          <a:ln w="0">
            <a:noFill/>
          </a:ln>
        </p:spPr>
      </p:pic>
      <p:pic>
        <p:nvPicPr>
          <p:cNvPr id="312" name="" descr=""/>
          <p:cNvPicPr/>
          <p:nvPr/>
        </p:nvPicPr>
        <p:blipFill>
          <a:blip r:embed="rId3"/>
          <a:stretch/>
        </p:blipFill>
        <p:spPr>
          <a:xfrm>
            <a:off x="2880000" y="560520"/>
            <a:ext cx="1980000" cy="4441320"/>
          </a:xfrm>
          <a:prstGeom prst="rect">
            <a:avLst/>
          </a:prstGeom>
          <a:ln w="0">
            <a:noFill/>
          </a:ln>
        </p:spPr>
      </p:pic>
      <p:sp>
        <p:nvSpPr>
          <p:cNvPr id="313" name=""/>
          <p:cNvSpPr txBox="1"/>
          <p:nvPr/>
        </p:nvSpPr>
        <p:spPr>
          <a:xfrm>
            <a:off x="4608360" y="3738240"/>
            <a:ext cx="13374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Control 6DOF</a:t>
            </a:r>
            <a:endParaRPr b="0" lang="es-ES" sz="1400" spc="-1" strike="noStrike">
              <a:latin typeface="Arial"/>
            </a:endParaRPr>
          </a:p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modificado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800000" y="3816000"/>
            <a:ext cx="1458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1400" spc="-1" strike="noStrike">
                <a:solidFill>
                  <a:srgbClr val="1f4e79"/>
                </a:solidFill>
                <a:latin typeface="Arial"/>
              </a:rPr>
              <a:t>Control normal</a:t>
            </a:r>
            <a:endParaRPr b="0" lang="es-E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5120"/>
          </a:xfrm>
          <a:prstGeom prst="rect">
            <a:avLst/>
          </a:prstGeom>
          <a:solidFill>
            <a:srgbClr val="00365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CONCLUSIONES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443880" y="1101960"/>
            <a:ext cx="6792120" cy="302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600" spc="-1" strike="noStrike">
                <a:latin typeface="Arial"/>
              </a:rPr>
              <a:t>ArduPilot vs PX4:</a:t>
            </a:r>
            <a:r>
              <a:rPr b="0" lang="es-ES" sz="1600" spc="-1" strike="noStrike">
                <a:latin typeface="Arial"/>
              </a:rPr>
              <a:t> PX4 presenta una arquitectura más modular y desacoplada, mientras que ArduPilot integra gran parte del control en módulos más monolíticos, dificultando modificaciones avanzadas.</a:t>
            </a:r>
            <a:endParaRPr b="0" lang="es-E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E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600" spc="-1" strike="noStrike">
                <a:latin typeface="Arial"/>
              </a:rPr>
              <a:t>Ventaja de PX4:</a:t>
            </a:r>
            <a:r>
              <a:rPr b="0" lang="es-ES" sz="1600" spc="-1" strike="noStrike">
                <a:latin typeface="Arial"/>
              </a:rPr>
              <a:t> La incorporación del Control Allocator simplifica la implementación de vehículos fully actuated, permitiendo adaptar la asignación de fuerzas y torques sin modificar los controladores de actitud.</a:t>
            </a:r>
            <a:endParaRPr b="0" lang="es-E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E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600" spc="-1" strike="noStrike">
                <a:latin typeface="Arial"/>
              </a:rPr>
              <a:t>Trabajo futuro:</a:t>
            </a:r>
            <a:r>
              <a:rPr b="0" lang="es-ES" sz="1600" spc="-1" strike="noStrike">
                <a:latin typeface="Arial"/>
              </a:rPr>
              <a:t> Aunque todavía queda desarrollo por realizar, la integración completa de un dron fully actuated en ArduPilot es viable mediante el ajuste de la arquitectura actual y el desarrollo de controladores específicos de mayor capacidad.</a:t>
            </a:r>
            <a:endParaRPr b="0" lang="es-E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2026-07-17T11:41:13Z</dcterms:created>
  <dc:creator/>
  <dc:description/>
  <dc:language>es-ES</dc:language>
  <cp:lastModifiedBy/>
  <dcterms:modified xsi:type="dcterms:W3CDTF">2026-07-20T08:29:18Z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(16:9)</vt:lpwstr>
  </property>
  <property fmtid="{D5CDD505-2E9C-101B-9397-08002B2CF9AE}" pid="3" name="Slides">
    <vt:r8>6</vt:r8>
  </property>
</Properties>
</file>